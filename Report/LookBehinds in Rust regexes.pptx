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Economica"/>
      <p:regular r:id="rId46"/>
      <p:bold r:id="rId47"/>
      <p:italic r:id="rId48"/>
      <p:boldItalic r:id="rId49"/>
    </p:embeddedFont>
    <p:embeddedFont>
      <p:font typeface="JetBrains Mono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65790E-2FE2-4DF9-93B7-C54B26BF4D3E}">
  <a:tblStyle styleId="{3365790E-2FE2-4DF9-93B7-C54B26BF4D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Economica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JetBrainsMono-bold.fntdata"/><Relationship Id="rId50" Type="http://schemas.openxmlformats.org/officeDocument/2006/relationships/font" Target="fonts/JetBrainsMono-regular.fntdata"/><Relationship Id="rId53" Type="http://schemas.openxmlformats.org/officeDocument/2006/relationships/font" Target="fonts/JetBrainsMono-boldItalic.fntdata"/><Relationship Id="rId52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OpenSans-regular.fntdata"/><Relationship Id="rId13" Type="http://schemas.openxmlformats.org/officeDocument/2006/relationships/slide" Target="slides/slide7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56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868bdbe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868bdbe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9b1c5dcd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d9b1c5dc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bd3250a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bd3250a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9bd3250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9bd3250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9bd3250a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9bd3250a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868bdbe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868bdbe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868bdbed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868bdbed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Parser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Here we reject unsupported features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Informative error when look-aheads are present or when there are capture groups in a look-behind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HIR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Just like Look, LookArounds do not contribute to the match length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68bdbed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868bdbed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91f5b8b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91f5b8b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91f5b8b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91f5b8b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91f5b8ba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91f5b8ba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91f5b8ba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91f5b8ba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91f5b8ba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91f5b8ba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868bdbed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868bdbed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91f5b8ba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91f5b8ba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91f5b8ba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91f5b8ba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91f5b8ba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91f5b8ba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91f5b8ba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91f5b8ba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91f5b8ba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91f5b8ba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91f5b8ba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91f5b8ba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91f5b8ba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91f5b8ba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91f5b8ba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91f5b8ba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91f5b8ba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91f5b8ba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91f5b8ba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91f5b8ba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868bdbed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868bdbed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868bdbed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868bdbed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91d66b3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91d66b3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91d66b3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91d66b3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91d66b3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91d66b3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91d66b3b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91d66b3b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91d66b3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91d66b3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91d66b3b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91d66b3b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91d66b3b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91d66b3b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91f5b8ba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91f5b8ba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868bdbed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868bdbed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868bdbed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6868bdbed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91d66b3b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91d66b3b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91d66b3b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91d66b3b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Look-behinds for Rust regexes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2689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Robin Hänni / Marcin Wojnarowski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Regex engines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764625"/>
            <a:ext cx="4260300" cy="28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Linear-time matching guarantees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Support only a subset of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Examples: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regex</a:t>
            </a:r>
            <a:r>
              <a:rPr lang="en-GB" sz="1600"/>
              <a:t> crate (Rust)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RE2 </a:t>
            </a:r>
            <a:r>
              <a:rPr lang="en-GB" sz="1600"/>
              <a:t>(C++)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regexp </a:t>
            </a:r>
            <a:r>
              <a:rPr lang="en-GB" sz="1600"/>
              <a:t>package (Golang)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JetBrains Mono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RE2/J </a:t>
            </a:r>
            <a:r>
              <a:rPr lang="en-GB" sz="1600"/>
              <a:t>(Java)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JetBrains Mono"/>
              <a:buChar char="○"/>
            </a:pPr>
            <a:r>
              <a:rPr lang="en-GB">
                <a:latin typeface="JetBrains Mono"/>
                <a:ea typeface="JetBrains Mono"/>
                <a:cs typeface="JetBrains Mono"/>
                <a:sym typeface="JetBrains Mono"/>
              </a:rPr>
              <a:t>V8Linear </a:t>
            </a:r>
            <a:r>
              <a:rPr lang="en-GB"/>
              <a:t>(ECMAScript)</a:t>
            </a:r>
            <a:endParaRPr sz="16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572000" y="1764625"/>
            <a:ext cx="4260300" cy="28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Potential exponential blowup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Support all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Examples: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>
                <a:latin typeface="JetBrains Mono"/>
                <a:ea typeface="JetBrains Mono"/>
                <a:cs typeface="JetBrains Mono"/>
                <a:sym typeface="JetBrains Mono"/>
              </a:rPr>
              <a:t>PCRE2</a:t>
            </a:r>
            <a:r>
              <a:rPr lang="en-GB" sz="1600"/>
              <a:t> </a:t>
            </a:r>
            <a:r>
              <a:rPr lang="en-GB" sz="1600"/>
              <a:t>(C)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Almost all regex engines in the standard library of programing languages</a:t>
            </a:r>
            <a:endParaRPr sz="1600"/>
          </a:p>
        </p:txBody>
      </p:sp>
      <p:cxnSp>
        <p:nvCxnSpPr>
          <p:cNvPr id="76" name="Google Shape;76;p15"/>
          <p:cNvCxnSpPr/>
          <p:nvPr/>
        </p:nvCxnSpPr>
        <p:spPr>
          <a:xfrm flipH="1">
            <a:off x="4577800" y="1227125"/>
            <a:ext cx="8700" cy="332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356100" y="1163225"/>
            <a:ext cx="4130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Linear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701600" y="1227125"/>
            <a:ext cx="4130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Backtracking</a:t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2181600"/>
            <a:ext cx="8520600" cy="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200"/>
              <a:t>Expansion of the subset of regexes accepted by linear engines in the Rust language ecosystem</a:t>
            </a:r>
            <a:endParaRPr sz="22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800" y="244075"/>
            <a:ext cx="1744500" cy="17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 rot="-1745052">
            <a:off x="7715202" y="4374317"/>
            <a:ext cx="1297279" cy="282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Spoiler: it has been achieved!</a:t>
            </a:r>
            <a:endParaRPr sz="600">
              <a:solidFill>
                <a:srgbClr val="66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Look-behind examples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852800" y="1261625"/>
            <a:ext cx="39795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(?&lt;!dogs) are better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Char char="●"/>
            </a:pP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Surely, </a:t>
            </a: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ats</a:t>
            </a:r>
            <a:r>
              <a:rPr lang="en-GB">
                <a:solidFill>
                  <a:srgbClr val="000000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are better</a:t>
            </a:r>
            <a:endParaRPr>
              <a:solidFill>
                <a:srgbClr val="000000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Char char="●"/>
            </a:pP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Maybe </a:t>
            </a: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ogs are better?</a:t>
            </a:r>
            <a:endParaRPr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JetBrains Mono"/>
              <a:buChar char="●"/>
            </a:pP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Okay, Dogs</a:t>
            </a:r>
            <a:r>
              <a:rPr lang="en-GB">
                <a:solidFill>
                  <a:srgbClr val="000000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are better</a:t>
            </a:r>
            <a:r>
              <a:rPr lang="en-GB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flipH="1">
            <a:off x="4577800" y="1227125"/>
            <a:ext cx="8700" cy="332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 txBox="1"/>
          <p:nvPr/>
        </p:nvSpPr>
        <p:spPr>
          <a:xfrm>
            <a:off x="311700" y="1261625"/>
            <a:ext cx="40599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/(?&lt;=Title:\s+)\w+/</a:t>
            </a:r>
            <a:endParaRPr sz="180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Title: </a:t>
            </a:r>
            <a:r>
              <a:rPr lang="en-GB" sz="1800">
                <a:solidFill>
                  <a:schemeClr val="dk1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HelloWorld</a:t>
            </a:r>
            <a:endParaRPr sz="1800">
              <a:solidFill>
                <a:schemeClr val="dk1"/>
              </a:solidFill>
              <a:highlight>
                <a:srgbClr val="B6D7A8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Title: </a:t>
            </a:r>
            <a:r>
              <a:rPr lang="en-GB" sz="1800">
                <a:solidFill>
                  <a:schemeClr val="dk1"/>
                </a:solidFill>
                <a:highlight>
                  <a:srgbClr val="B6D7A8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Title</a:t>
            </a: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GB" sz="1800">
                <a:solidFill>
                  <a:schemeClr val="dk1"/>
                </a:solidFill>
                <a:highlight>
                  <a:srgbClr val="6AA84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foo</a:t>
            </a:r>
            <a:endParaRPr sz="1800">
              <a:solidFill>
                <a:schemeClr val="dk1"/>
              </a:solidFill>
              <a:highlight>
                <a:srgbClr val="6AA84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 heading</a:t>
            </a:r>
            <a:endParaRPr sz="1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title: bad case</a:t>
            </a:r>
            <a:endParaRPr sz="1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Title:nospace</a:t>
            </a:r>
            <a:endParaRPr sz="1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Expectations vs Reality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</a:t>
            </a:r>
            <a:r>
              <a:rPr b="1" lang="en-GB"/>
              <a:t>apture-less look-behinds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Capture-less look-aheads (requires additional memory)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General look-arounds including capture groups (depends on semantics)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Investigation of compatibility of algorithms in various regex engines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API for choice of the data structure for capture group for space-time-complexity trade-offs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Exploring algorithms for intersections in NFA/PikeVM</a:t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946375" y="1306350"/>
            <a:ext cx="382350" cy="291325"/>
          </a:xfrm>
          <a:custGeom>
            <a:rect b="b" l="l" r="r" t="t"/>
            <a:pathLst>
              <a:path extrusionOk="0" h="11653" w="15294">
                <a:moveTo>
                  <a:pt x="0" y="6191"/>
                </a:moveTo>
                <a:cubicBezTo>
                  <a:pt x="437" y="8152"/>
                  <a:pt x="540" y="11653"/>
                  <a:pt x="2549" y="11653"/>
                </a:cubicBezTo>
                <a:cubicBezTo>
                  <a:pt x="4370" y="11653"/>
                  <a:pt x="4539" y="8571"/>
                  <a:pt x="5827" y="7283"/>
                </a:cubicBezTo>
                <a:cubicBezTo>
                  <a:pt x="8642" y="4468"/>
                  <a:pt x="11882" y="2051"/>
                  <a:pt x="15294" y="0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2" name="Google Shape;102;p18"/>
          <p:cNvCxnSpPr/>
          <p:nvPr/>
        </p:nvCxnSpPr>
        <p:spPr>
          <a:xfrm>
            <a:off x="819275" y="2387225"/>
            <a:ext cx="5956200" cy="28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8"/>
          <p:cNvSpPr txBox="1"/>
          <p:nvPr/>
        </p:nvSpPr>
        <p:spPr>
          <a:xfrm>
            <a:off x="6790150" y="2097975"/>
            <a:ext cx="2505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Lack of time, </a:t>
            </a:r>
            <a:r>
              <a:rPr lang="en-GB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but</a:t>
            </a:r>
            <a:r>
              <a:rPr lang="en-GB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strong foundations have been laid</a:t>
            </a:r>
            <a:endParaRPr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8"/>
          <p:cNvCxnSpPr/>
          <p:nvPr/>
        </p:nvCxnSpPr>
        <p:spPr>
          <a:xfrm>
            <a:off x="833425" y="2707425"/>
            <a:ext cx="7689000" cy="14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8"/>
          <p:cNvSpPr txBox="1"/>
          <p:nvPr/>
        </p:nvSpPr>
        <p:spPr>
          <a:xfrm>
            <a:off x="7558875" y="2676175"/>
            <a:ext cx="1735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Not investigated</a:t>
            </a:r>
            <a:endParaRPr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7851475" y="3040825"/>
            <a:ext cx="382350" cy="291325"/>
          </a:xfrm>
          <a:custGeom>
            <a:rect b="b" l="l" r="r" t="t"/>
            <a:pathLst>
              <a:path extrusionOk="0" h="11653" w="15294">
                <a:moveTo>
                  <a:pt x="0" y="6191"/>
                </a:moveTo>
                <a:cubicBezTo>
                  <a:pt x="437" y="8152"/>
                  <a:pt x="540" y="11653"/>
                  <a:pt x="2549" y="11653"/>
                </a:cubicBezTo>
                <a:cubicBezTo>
                  <a:pt x="4370" y="11653"/>
                  <a:pt x="4539" y="8571"/>
                  <a:pt x="5827" y="7283"/>
                </a:cubicBezTo>
                <a:cubicBezTo>
                  <a:pt x="8642" y="4468"/>
                  <a:pt x="11882" y="2051"/>
                  <a:pt x="15294" y="0"/>
                </a:cubicBezTo>
              </a:path>
            </a:pathLst>
          </a:cu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7" name="Google Shape;107;p18"/>
          <p:cNvCxnSpPr/>
          <p:nvPr/>
        </p:nvCxnSpPr>
        <p:spPr>
          <a:xfrm>
            <a:off x="847550" y="3352475"/>
            <a:ext cx="60693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8"/>
          <p:cNvCxnSpPr/>
          <p:nvPr/>
        </p:nvCxnSpPr>
        <p:spPr>
          <a:xfrm flipH="1" rot="10800000">
            <a:off x="819275" y="3658600"/>
            <a:ext cx="3611400" cy="25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8"/>
          <p:cNvCxnSpPr/>
          <p:nvPr/>
        </p:nvCxnSpPr>
        <p:spPr>
          <a:xfrm flipH="1" rot="10800000">
            <a:off x="819275" y="3959975"/>
            <a:ext cx="5688000" cy="22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8"/>
          <p:cNvSpPr txBox="1"/>
          <p:nvPr/>
        </p:nvSpPr>
        <p:spPr>
          <a:xfrm>
            <a:off x="5728975" y="4083425"/>
            <a:ext cx="2916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No time to even cross our minds</a:t>
            </a:r>
            <a:endParaRPr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572000" y="3453725"/>
            <a:ext cx="2916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Lack of time</a:t>
            </a:r>
            <a:endParaRPr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1: compiler frontend</a:t>
            </a:r>
            <a:endParaRPr/>
          </a:p>
        </p:txBody>
      </p:sp>
      <p:pic>
        <p:nvPicPr>
          <p:cNvPr id="122" name="Google Shape;122;p20" title="frontend_parser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75" y="1082075"/>
            <a:ext cx="11213450" cy="36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frontend_parser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047975" y="1082075"/>
            <a:ext cx="11213450" cy="36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29" name="Google Shape;129;p21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1734500" y="1131575"/>
            <a:ext cx="7308000" cy="3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36" name="Google Shape;136;p22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3810000" y="1131575"/>
            <a:ext cx="5232600" cy="3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381250" y="1251875"/>
            <a:ext cx="2282400" cy="120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3572238" y="1815325"/>
            <a:ext cx="1999500" cy="12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45" name="Google Shape;145;p23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3810000" y="2966350"/>
            <a:ext cx="5232600" cy="180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5838232" y="1733675"/>
            <a:ext cx="3061500" cy="12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4384982" y="2571750"/>
            <a:ext cx="3061500" cy="12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54" name="Google Shape;154;p24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5457225" y="1986650"/>
            <a:ext cx="3375000" cy="268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5347600" y="3728350"/>
            <a:ext cx="1895400" cy="106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62" name="Google Shape;162;p25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347600" y="3728350"/>
            <a:ext cx="3197700" cy="106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2: compiler backend</a:t>
            </a:r>
            <a:endParaRPr/>
          </a:p>
        </p:txBody>
      </p:sp>
      <p:pic>
        <p:nvPicPr>
          <p:cNvPr id="169" name="Google Shape;169;p26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1336225"/>
            <a:ext cx="8655176" cy="32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3211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look-behind automata at the start of the haystack</a:t>
            </a:r>
            <a:endParaRPr/>
          </a:p>
        </p:txBody>
      </p:sp>
      <p:pic>
        <p:nvPicPr>
          <p:cNvPr id="176" name="Google Shape;176;p27" title="hay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87" y="1208925"/>
            <a:ext cx="8176626" cy="141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7"/>
          <p:cNvCxnSpPr/>
          <p:nvPr/>
        </p:nvCxnSpPr>
        <p:spPr>
          <a:xfrm>
            <a:off x="639525" y="2299600"/>
            <a:ext cx="0" cy="775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3211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look-behind automata at the start of the haystack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them catch up to the start of the searched range</a:t>
            </a:r>
            <a:endParaRPr/>
          </a:p>
        </p:txBody>
      </p:sp>
      <p:pic>
        <p:nvPicPr>
          <p:cNvPr id="184" name="Google Shape;184;p28" title="hay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87" y="1208925"/>
            <a:ext cx="8176626" cy="141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8"/>
          <p:cNvCxnSpPr/>
          <p:nvPr/>
        </p:nvCxnSpPr>
        <p:spPr>
          <a:xfrm>
            <a:off x="1932225" y="2326825"/>
            <a:ext cx="0" cy="775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311700" y="3211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look-behind automata at the start of the haystack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them catch up to the start of the searched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main regex at the start of the searched range</a:t>
            </a:r>
            <a:endParaRPr/>
          </a:p>
        </p:txBody>
      </p:sp>
      <p:pic>
        <p:nvPicPr>
          <p:cNvPr id="192" name="Google Shape;192;p29" title="hay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87" y="1208925"/>
            <a:ext cx="8176626" cy="141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9"/>
          <p:cNvCxnSpPr/>
          <p:nvPr/>
        </p:nvCxnSpPr>
        <p:spPr>
          <a:xfrm>
            <a:off x="1932225" y="2326825"/>
            <a:ext cx="0" cy="775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4" name="Google Shape;194;p29"/>
          <p:cNvCxnSpPr/>
          <p:nvPr/>
        </p:nvCxnSpPr>
        <p:spPr>
          <a:xfrm rot="10800000">
            <a:off x="1930875" y="1083000"/>
            <a:ext cx="2700" cy="8601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3211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look-behind automata at the start of the haystack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them catch up to the start of the searched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main regex at the start of the searched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everything in lock-step, character by character</a:t>
            </a:r>
            <a:endParaRPr/>
          </a:p>
        </p:txBody>
      </p:sp>
      <p:pic>
        <p:nvPicPr>
          <p:cNvPr id="201" name="Google Shape;201;p30" title="hay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87" y="1208925"/>
            <a:ext cx="8176626" cy="141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30"/>
          <p:cNvCxnSpPr/>
          <p:nvPr/>
        </p:nvCxnSpPr>
        <p:spPr>
          <a:xfrm>
            <a:off x="2160825" y="2326825"/>
            <a:ext cx="0" cy="775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3" name="Google Shape;203;p30"/>
          <p:cNvCxnSpPr/>
          <p:nvPr/>
        </p:nvCxnSpPr>
        <p:spPr>
          <a:xfrm rot="10800000">
            <a:off x="2159475" y="1083000"/>
            <a:ext cx="2700" cy="8601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311700" y="3211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look-behind automata at the start of the haystack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Make them catch up to the start of the searched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the main regex at the start of the searched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everything in lock-step, character by character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Finish search when the main regex is out of states to explore</a:t>
            </a:r>
            <a:endParaRPr/>
          </a:p>
        </p:txBody>
      </p:sp>
      <p:pic>
        <p:nvPicPr>
          <p:cNvPr id="210" name="Google Shape;210;p31" title="hay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87" y="1208925"/>
            <a:ext cx="8176626" cy="141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31"/>
          <p:cNvCxnSpPr/>
          <p:nvPr/>
        </p:nvCxnSpPr>
        <p:spPr>
          <a:xfrm>
            <a:off x="2160825" y="2326825"/>
            <a:ext cx="0" cy="7755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2" name="Google Shape;212;p31"/>
          <p:cNvCxnSpPr/>
          <p:nvPr/>
        </p:nvCxnSpPr>
        <p:spPr>
          <a:xfrm rot="10800000">
            <a:off x="2159475" y="1083000"/>
            <a:ext cx="2700" cy="8601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4852800" y="1261625"/>
            <a:ext cx="39795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CheckLookAround IsNeg idx</a:t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Impure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Consult the table at index 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idx</a:t>
            </a:r>
            <a:endParaRPr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If 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IsNeg</a:t>
            </a:r>
            <a:r>
              <a:rPr lang="en-GB"/>
              <a:t> is true, and the table reports a haystack position equal to ours, it is a failed match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If </a:t>
            </a:r>
            <a:r>
              <a:rPr lang="en-GB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IsNeg</a:t>
            </a:r>
            <a:r>
              <a:rPr lang="en-GB">
                <a:solidFill>
                  <a:srgbClr val="666666"/>
                </a:solidFill>
              </a:rPr>
              <a:t> </a:t>
            </a:r>
            <a:r>
              <a:rPr lang="en-GB"/>
              <a:t>is false, and the table reports a haystack position different from ours, it is a failed match</a:t>
            </a:r>
            <a:endParaRPr/>
          </a:p>
        </p:txBody>
      </p:sp>
      <p:cxnSp>
        <p:nvCxnSpPr>
          <p:cNvPr id="219" name="Google Shape;219;p32"/>
          <p:cNvCxnSpPr/>
          <p:nvPr/>
        </p:nvCxnSpPr>
        <p:spPr>
          <a:xfrm flipH="1">
            <a:off x="4577800" y="1227125"/>
            <a:ext cx="8700" cy="332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2"/>
          <p:cNvSpPr txBox="1"/>
          <p:nvPr/>
        </p:nvSpPr>
        <p:spPr>
          <a:xfrm>
            <a:off x="311700" y="1261625"/>
            <a:ext cx="40599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WriteLookAround idx</a:t>
            </a:r>
            <a:endParaRPr sz="180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Side effect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etBrains Mono"/>
              <a:buChar char="●"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Write into a table at index </a:t>
            </a:r>
            <a:r>
              <a:rPr lang="en-GB" sz="180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idx </a:t>
            </a: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current haystack position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indicates that a look-behind found a match at this haystack position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runtime, MatchAll hell</a:t>
            </a:r>
            <a:endParaRPr/>
          </a:p>
        </p:txBody>
      </p:sp>
      <p:pic>
        <p:nvPicPr>
          <p:cNvPr id="226" name="Google Shape;226;p33" title="matchall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0" cy="2636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runtime, MatchAll hell</a:t>
            </a:r>
            <a:endParaRPr/>
          </a:p>
        </p:txBody>
      </p:sp>
      <p:pic>
        <p:nvPicPr>
          <p:cNvPr id="232" name="Google Shape;232;p34" title="matchall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4" cy="2639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runtime, MatchAll hell</a:t>
            </a:r>
            <a:endParaRPr/>
          </a:p>
        </p:txBody>
      </p:sp>
      <p:pic>
        <p:nvPicPr>
          <p:cNvPr id="238" name="Google Shape;238;p35" title="matchall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4" cy="2639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runtime, MatchAll hell</a:t>
            </a:r>
            <a:endParaRPr/>
          </a:p>
        </p:txBody>
      </p:sp>
      <p:pic>
        <p:nvPicPr>
          <p:cNvPr id="244" name="Google Shape;244;p36" title="matchall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4" cy="2639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Phase 3: runtime, MatchAll hell</a:t>
            </a:r>
            <a:endParaRPr/>
          </a:p>
        </p:txBody>
      </p:sp>
      <p:pic>
        <p:nvPicPr>
          <p:cNvPr id="250" name="Google Shape;250;p37" title="matchall_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3025"/>
            <a:ext cx="8839199" cy="207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Optimization</a:t>
            </a:r>
            <a:r>
              <a:rPr lang="en-GB"/>
              <a:t>: bounded length look-behinds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Second runtime</a:t>
            </a:r>
            <a:r>
              <a:rPr lang="en-GB"/>
              <a:t>: bounded backtracker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266" name="Google Shape;266;p40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0"/>
          <p:cNvSpPr/>
          <p:nvPr/>
        </p:nvSpPr>
        <p:spPr>
          <a:xfrm>
            <a:off x="1011100" y="1378875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40"/>
          <p:cNvSpPr/>
          <p:nvPr/>
        </p:nvSpPr>
        <p:spPr>
          <a:xfrm>
            <a:off x="3772425" y="1990775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40"/>
          <p:cNvSpPr/>
          <p:nvPr/>
        </p:nvSpPr>
        <p:spPr>
          <a:xfrm>
            <a:off x="4025525" y="28016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71" name="Google Shape;271;p40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277" name="Google Shape;277;p41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/>
          <p:nvPr/>
        </p:nvSpPr>
        <p:spPr>
          <a:xfrm>
            <a:off x="515325" y="2296800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4025525" y="1998525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4180450" y="28041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82" name="Google Shape;282;p41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288" name="Google Shape;288;p42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980100" y="3226350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42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4761425" y="1983025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4319875" y="28041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93" name="Google Shape;293;p42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299" name="Google Shape;299;p43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3"/>
          <p:cNvSpPr/>
          <p:nvPr/>
        </p:nvSpPr>
        <p:spPr>
          <a:xfrm>
            <a:off x="1011100" y="1378875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4415375" y="1990775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4025525" y="28016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04" name="Google Shape;304;p43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310" name="Google Shape;310;p44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/>
          <p:nvPr/>
        </p:nvSpPr>
        <p:spPr>
          <a:xfrm>
            <a:off x="1444875" y="2254200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4572000" y="195205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4157225" y="28041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15" name="Google Shape;315;p44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</a:t>
            </a:r>
            <a:endParaRPr/>
          </a:p>
        </p:txBody>
      </p:sp>
      <p:pic>
        <p:nvPicPr>
          <p:cNvPr id="321" name="Google Shape;321;p45" title="automaton_1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375" y="1457075"/>
            <a:ext cx="1315353" cy="31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1018825" y="3222500"/>
            <a:ext cx="549900" cy="549900"/>
          </a:xfrm>
          <a:prstGeom prst="ellipse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45"/>
          <p:cNvSpPr txBox="1"/>
          <p:nvPr/>
        </p:nvSpPr>
        <p:spPr>
          <a:xfrm>
            <a:off x="2850625" y="1859550"/>
            <a:ext cx="2532900" cy="14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(a\w|\wb)c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 abd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45"/>
          <p:cNvSpPr/>
          <p:nvPr/>
        </p:nvSpPr>
        <p:spPr>
          <a:xfrm>
            <a:off x="4765650" y="195205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4319900" y="2804100"/>
            <a:ext cx="116100" cy="240000"/>
          </a:xfrm>
          <a:prstGeom prst="rect">
            <a:avLst/>
          </a:prstGeom>
          <a:solidFill>
            <a:srgbClr val="FF0000">
              <a:alpha val="213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26" name="Google Shape;326;p45"/>
          <p:cNvGraphicFramePr/>
          <p:nvPr/>
        </p:nvGraphicFramePr>
        <p:xfrm>
          <a:off x="5933325" y="17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{3365790E-2FE2-4DF9-93B7-C54B26BF4D3E}</a:tableStyleId>
              </a:tblPr>
              <a:tblGrid>
                <a:gridCol w="564550"/>
                <a:gridCol w="564550"/>
                <a:gridCol w="564550"/>
                <a:gridCol w="564550"/>
              </a:tblGrid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>
                        <a:alpha val="21360"/>
                      </a:srgbClr>
                    </a:solidFill>
                  </a:tcPr>
                </a:tc>
              </a:tr>
              <a:tr h="35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memoize look-behinds?</a:t>
            </a:r>
            <a:endParaRPr/>
          </a:p>
        </p:txBody>
      </p:sp>
      <p:sp>
        <p:nvSpPr>
          <p:cNvPr id="332" name="Google Shape;332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Keep two bits per table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First bit: same semantics as before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Second bit: set iff look-behind matched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Performance impact but complexity still ok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results</a:t>
            </a:r>
            <a:endParaRPr/>
          </a:p>
        </p:txBody>
      </p:sp>
      <p:pic>
        <p:nvPicPr>
          <p:cNvPr id="338" name="Google Shape;33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774" y="1704126"/>
            <a:ext cx="7550450" cy="22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344" name="Google Shape;344;p48"/>
          <p:cNvSpPr txBox="1"/>
          <p:nvPr>
            <p:ph idx="1" type="body"/>
          </p:nvPr>
        </p:nvSpPr>
        <p:spPr>
          <a:xfrm>
            <a:off x="311700" y="1225225"/>
            <a:ext cx="5398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Adds new features rather than improving existing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Benefits trickle-down(stream): </a:t>
            </a:r>
            <a:r>
              <a:rPr lang="en-GB" sz="1400">
                <a:latin typeface="JetBrains Mono"/>
                <a:ea typeface="JetBrains Mono"/>
                <a:cs typeface="JetBrains Mono"/>
                <a:sym typeface="JetBrains Mono"/>
              </a:rPr>
              <a:t>ripgrep</a:t>
            </a:r>
            <a:r>
              <a:rPr lang="en-GB" sz="1400"/>
              <a:t>, </a:t>
            </a:r>
            <a:r>
              <a:rPr lang="en-GB" sz="1400">
                <a:latin typeface="JetBrains Mono"/>
                <a:ea typeface="JetBrains Mono"/>
                <a:cs typeface="JetBrains Mono"/>
                <a:sym typeface="JetBrains Mono"/>
              </a:rPr>
              <a:t>fancy-regex</a:t>
            </a:r>
            <a:r>
              <a:rPr lang="en-GB" sz="1400"/>
              <a:t>, VSCode, all Rust users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"Contributor" badge in the rust-lang organization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 opened, but no traction yet. Feel free to like, review, or approve</a:t>
            </a:r>
            <a:endParaRPr/>
          </a:p>
        </p:txBody>
      </p:sp>
      <p:pic>
        <p:nvPicPr>
          <p:cNvPr id="345" name="Google Shape;345;p48" title="q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900" y="1058288"/>
            <a:ext cx="3026924" cy="302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 merci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Wrong memoization example</a:t>
            </a:r>
            <a:endParaRPr/>
          </a:p>
        </p:txBody>
      </p:sp>
      <p:pic>
        <p:nvPicPr>
          <p:cNvPr id="356" name="Google Shape;356;p50" title="bt_memo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825" y="1206675"/>
            <a:ext cx="2872831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0"/>
          <p:cNvSpPr txBox="1"/>
          <p:nvPr/>
        </p:nvSpPr>
        <p:spPr>
          <a:xfrm>
            <a:off x="503500" y="1456300"/>
            <a:ext cx="2106900" cy="1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^(a|aa)(?&lt;=aa?)b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aab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Wrong memoization example</a:t>
            </a:r>
            <a:endParaRPr/>
          </a:p>
        </p:txBody>
      </p:sp>
      <p:pic>
        <p:nvPicPr>
          <p:cNvPr id="363" name="Google Shape;363;p51" title="bt_memo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825" y="1206675"/>
            <a:ext cx="2872831" cy="36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1" title="bt_memo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9806" y="1206675"/>
            <a:ext cx="2872831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1"/>
          <p:cNvSpPr txBox="1"/>
          <p:nvPr/>
        </p:nvSpPr>
        <p:spPr>
          <a:xfrm>
            <a:off x="503500" y="1456300"/>
            <a:ext cx="2106900" cy="1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Regex: ^(a|aa)(?&lt;=aa?)b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Haystack: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aab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